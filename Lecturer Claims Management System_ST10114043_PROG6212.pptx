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3C00B7-365F-46E6-B8A6-0160B064F65B}" type="datetimeFigureOut">
              <a:rPr lang="en-ZA" smtClean="0"/>
              <a:t>2025/11/21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96B30F-C636-4A6E-B8A0-C9EF06D308E5}" type="slidenum">
              <a:rPr lang="en-ZA" smtClean="0"/>
              <a:t>‹#›</a:t>
            </a:fld>
            <a:endParaRPr lang="en-ZA"/>
          </a:p>
        </p:txBody>
      </p:sp>
    </p:spTree>
    <p:extLst>
      <p:ext uri="{BB962C8B-B14F-4D97-AF65-F5344CB8AC3E}">
        <p14:creationId xmlns:p14="http://schemas.microsoft.com/office/powerpoint/2010/main" val="2805533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A96B30F-C636-4A6E-B8A0-C9EF06D308E5}" type="slidenum">
              <a:rPr lang="en-ZA" smtClean="0"/>
              <a:t>1</a:t>
            </a:fld>
            <a:endParaRPr lang="en-ZA"/>
          </a:p>
        </p:txBody>
      </p:sp>
    </p:spTree>
    <p:extLst>
      <p:ext uri="{BB962C8B-B14F-4D97-AF65-F5344CB8AC3E}">
        <p14:creationId xmlns:p14="http://schemas.microsoft.com/office/powerpoint/2010/main" val="4282513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Login Page of App</a:t>
            </a:r>
          </a:p>
        </p:txBody>
      </p:sp>
      <p:sp>
        <p:nvSpPr>
          <p:cNvPr id="4" name="Slide Number Placeholder 3"/>
          <p:cNvSpPr>
            <a:spLocks noGrp="1"/>
          </p:cNvSpPr>
          <p:nvPr>
            <p:ph type="sldNum" sz="quarter" idx="5"/>
          </p:nvPr>
        </p:nvSpPr>
        <p:spPr/>
        <p:txBody>
          <a:bodyPr/>
          <a:lstStyle/>
          <a:p>
            <a:fld id="{BA96B30F-C636-4A6E-B8A0-C9EF06D308E5}" type="slidenum">
              <a:rPr lang="en-ZA" smtClean="0"/>
              <a:t>3</a:t>
            </a:fld>
            <a:endParaRPr lang="en-ZA"/>
          </a:p>
        </p:txBody>
      </p:sp>
    </p:spTree>
    <p:extLst>
      <p:ext uri="{BB962C8B-B14F-4D97-AF65-F5344CB8AC3E}">
        <p14:creationId xmlns:p14="http://schemas.microsoft.com/office/powerpoint/2010/main" val="769995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Structure of program featuring models, views and controllers </a:t>
            </a:r>
          </a:p>
        </p:txBody>
      </p:sp>
      <p:sp>
        <p:nvSpPr>
          <p:cNvPr id="4" name="Slide Number Placeholder 3"/>
          <p:cNvSpPr>
            <a:spLocks noGrp="1"/>
          </p:cNvSpPr>
          <p:nvPr>
            <p:ph type="sldNum" sz="quarter" idx="5"/>
          </p:nvPr>
        </p:nvSpPr>
        <p:spPr/>
        <p:txBody>
          <a:bodyPr/>
          <a:lstStyle/>
          <a:p>
            <a:fld id="{BA96B30F-C636-4A6E-B8A0-C9EF06D308E5}" type="slidenum">
              <a:rPr lang="en-ZA" smtClean="0"/>
              <a:t>8</a:t>
            </a:fld>
            <a:endParaRPr lang="en-ZA"/>
          </a:p>
        </p:txBody>
      </p:sp>
    </p:spTree>
    <p:extLst>
      <p:ext uri="{BB962C8B-B14F-4D97-AF65-F5344CB8AC3E}">
        <p14:creationId xmlns:p14="http://schemas.microsoft.com/office/powerpoint/2010/main" val="1230346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Logging users onto System using HR Dashboard</a:t>
            </a:r>
          </a:p>
        </p:txBody>
      </p:sp>
      <p:sp>
        <p:nvSpPr>
          <p:cNvPr id="4" name="Slide Number Placeholder 3"/>
          <p:cNvSpPr>
            <a:spLocks noGrp="1"/>
          </p:cNvSpPr>
          <p:nvPr>
            <p:ph type="sldNum" sz="quarter" idx="5"/>
          </p:nvPr>
        </p:nvSpPr>
        <p:spPr/>
        <p:txBody>
          <a:bodyPr/>
          <a:lstStyle/>
          <a:p>
            <a:fld id="{BA96B30F-C636-4A6E-B8A0-C9EF06D308E5}" type="slidenum">
              <a:rPr lang="en-ZA" smtClean="0"/>
              <a:t>10</a:t>
            </a:fld>
            <a:endParaRPr lang="en-ZA"/>
          </a:p>
        </p:txBody>
      </p:sp>
    </p:spTree>
    <p:extLst>
      <p:ext uri="{BB962C8B-B14F-4D97-AF65-F5344CB8AC3E}">
        <p14:creationId xmlns:p14="http://schemas.microsoft.com/office/powerpoint/2010/main" val="931014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Lecturer submission page</a:t>
            </a:r>
          </a:p>
          <a:p>
            <a:endParaRPr lang="en-ZA" dirty="0"/>
          </a:p>
        </p:txBody>
      </p:sp>
      <p:sp>
        <p:nvSpPr>
          <p:cNvPr id="4" name="Slide Number Placeholder 3"/>
          <p:cNvSpPr>
            <a:spLocks noGrp="1"/>
          </p:cNvSpPr>
          <p:nvPr>
            <p:ph type="sldNum" sz="quarter" idx="5"/>
          </p:nvPr>
        </p:nvSpPr>
        <p:spPr/>
        <p:txBody>
          <a:bodyPr/>
          <a:lstStyle/>
          <a:p>
            <a:fld id="{BA96B30F-C636-4A6E-B8A0-C9EF06D308E5}" type="slidenum">
              <a:rPr lang="en-ZA" smtClean="0"/>
              <a:t>12</a:t>
            </a:fld>
            <a:endParaRPr lang="en-ZA"/>
          </a:p>
        </p:txBody>
      </p:sp>
    </p:spTree>
    <p:extLst>
      <p:ext uri="{BB962C8B-B14F-4D97-AF65-F5344CB8AC3E}">
        <p14:creationId xmlns:p14="http://schemas.microsoft.com/office/powerpoint/2010/main" val="506002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Lecturer submission page</a:t>
            </a:r>
          </a:p>
        </p:txBody>
      </p:sp>
      <p:sp>
        <p:nvSpPr>
          <p:cNvPr id="4" name="Slide Number Placeholder 3"/>
          <p:cNvSpPr>
            <a:spLocks noGrp="1"/>
          </p:cNvSpPr>
          <p:nvPr>
            <p:ph type="sldNum" sz="quarter" idx="5"/>
          </p:nvPr>
        </p:nvSpPr>
        <p:spPr/>
        <p:txBody>
          <a:bodyPr/>
          <a:lstStyle/>
          <a:p>
            <a:fld id="{BA96B30F-C636-4A6E-B8A0-C9EF06D308E5}" type="slidenum">
              <a:rPr lang="en-ZA" smtClean="0"/>
              <a:t>13</a:t>
            </a:fld>
            <a:endParaRPr lang="en-ZA"/>
          </a:p>
        </p:txBody>
      </p:sp>
    </p:spTree>
    <p:extLst>
      <p:ext uri="{BB962C8B-B14F-4D97-AF65-F5344CB8AC3E}">
        <p14:creationId xmlns:p14="http://schemas.microsoft.com/office/powerpoint/2010/main" val="229200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Document successfully added to claim . </a:t>
            </a:r>
          </a:p>
        </p:txBody>
      </p:sp>
      <p:sp>
        <p:nvSpPr>
          <p:cNvPr id="4" name="Slide Number Placeholder 3"/>
          <p:cNvSpPr>
            <a:spLocks noGrp="1"/>
          </p:cNvSpPr>
          <p:nvPr>
            <p:ph type="sldNum" sz="quarter" idx="5"/>
          </p:nvPr>
        </p:nvSpPr>
        <p:spPr/>
        <p:txBody>
          <a:bodyPr/>
          <a:lstStyle/>
          <a:p>
            <a:fld id="{BA96B30F-C636-4A6E-B8A0-C9EF06D308E5}" type="slidenum">
              <a:rPr lang="en-ZA" smtClean="0"/>
              <a:t>16</a:t>
            </a:fld>
            <a:endParaRPr lang="en-ZA"/>
          </a:p>
        </p:txBody>
      </p:sp>
    </p:spTree>
    <p:extLst>
      <p:ext uri="{BB962C8B-B14F-4D97-AF65-F5344CB8AC3E}">
        <p14:creationId xmlns:p14="http://schemas.microsoft.com/office/powerpoint/2010/main" val="1189682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Pending, approving, and rejection actions available for Coordinator </a:t>
            </a:r>
          </a:p>
        </p:txBody>
      </p:sp>
      <p:sp>
        <p:nvSpPr>
          <p:cNvPr id="4" name="Slide Number Placeholder 3"/>
          <p:cNvSpPr>
            <a:spLocks noGrp="1"/>
          </p:cNvSpPr>
          <p:nvPr>
            <p:ph type="sldNum" sz="quarter" idx="5"/>
          </p:nvPr>
        </p:nvSpPr>
        <p:spPr/>
        <p:txBody>
          <a:bodyPr/>
          <a:lstStyle/>
          <a:p>
            <a:fld id="{BA96B30F-C636-4A6E-B8A0-C9EF06D308E5}" type="slidenum">
              <a:rPr lang="en-ZA" smtClean="0"/>
              <a:t>18</a:t>
            </a:fld>
            <a:endParaRPr lang="en-ZA"/>
          </a:p>
        </p:txBody>
      </p:sp>
    </p:spTree>
    <p:extLst>
      <p:ext uri="{BB962C8B-B14F-4D97-AF65-F5344CB8AC3E}">
        <p14:creationId xmlns:p14="http://schemas.microsoft.com/office/powerpoint/2010/main" val="2233809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Manager Dashboard and actions available </a:t>
            </a:r>
          </a:p>
        </p:txBody>
      </p:sp>
      <p:sp>
        <p:nvSpPr>
          <p:cNvPr id="4" name="Slide Number Placeholder 3"/>
          <p:cNvSpPr>
            <a:spLocks noGrp="1"/>
          </p:cNvSpPr>
          <p:nvPr>
            <p:ph type="sldNum" sz="quarter" idx="5"/>
          </p:nvPr>
        </p:nvSpPr>
        <p:spPr/>
        <p:txBody>
          <a:bodyPr/>
          <a:lstStyle/>
          <a:p>
            <a:fld id="{BA96B30F-C636-4A6E-B8A0-C9EF06D308E5}" type="slidenum">
              <a:rPr lang="en-ZA" smtClean="0"/>
              <a:t>20</a:t>
            </a:fld>
            <a:endParaRPr lang="en-ZA"/>
          </a:p>
        </p:txBody>
      </p:sp>
    </p:spTree>
    <p:extLst>
      <p:ext uri="{BB962C8B-B14F-4D97-AF65-F5344CB8AC3E}">
        <p14:creationId xmlns:p14="http://schemas.microsoft.com/office/powerpoint/2010/main" val="3140035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Total payment auto calculated according to hours and rate </a:t>
            </a:r>
          </a:p>
        </p:txBody>
      </p:sp>
      <p:sp>
        <p:nvSpPr>
          <p:cNvPr id="4" name="Slide Number Placeholder 3"/>
          <p:cNvSpPr>
            <a:spLocks noGrp="1"/>
          </p:cNvSpPr>
          <p:nvPr>
            <p:ph type="sldNum" sz="quarter" idx="5"/>
          </p:nvPr>
        </p:nvSpPr>
        <p:spPr/>
        <p:txBody>
          <a:bodyPr/>
          <a:lstStyle/>
          <a:p>
            <a:fld id="{BA96B30F-C636-4A6E-B8A0-C9EF06D308E5}" type="slidenum">
              <a:rPr lang="en-ZA" smtClean="0"/>
              <a:t>24</a:t>
            </a:fld>
            <a:endParaRPr lang="en-ZA"/>
          </a:p>
        </p:txBody>
      </p:sp>
    </p:spTree>
    <p:extLst>
      <p:ext uri="{BB962C8B-B14F-4D97-AF65-F5344CB8AC3E}">
        <p14:creationId xmlns:p14="http://schemas.microsoft.com/office/powerpoint/2010/main" val="1617980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11/21/2025</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8993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11/21/2025</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210890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11/21/2025</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6090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11/21/2025</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88771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11/21/2025</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6529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11/21/2025</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1834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11/21/2025</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533933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11/21/2025</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839907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11/21/2025</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2785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11/21/2025</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81200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11/21/2025</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234495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365125"/>
            <a:ext cx="10869248" cy="168751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576513"/>
            <a:ext cx="10869248"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11/21/2025</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802347414"/>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2" r:id="rId6"/>
    <p:sldLayoutId id="2147483788" r:id="rId7"/>
    <p:sldLayoutId id="2147483789" r:id="rId8"/>
    <p:sldLayoutId id="2147483790" r:id="rId9"/>
    <p:sldLayoutId id="2147483791" r:id="rId10"/>
    <p:sldLayoutId id="2147483793" r:id="rId11"/>
  </p:sldLayoutIdLst>
  <p:hf sldNum="0" hdr="0" ftr="0" dt="0"/>
  <p:txStyles>
    <p:titleStyle>
      <a:lvl1pPr algn="l" defTabSz="914400" rtl="0" eaLnBrk="1" latinLnBrk="0" hangingPunct="1">
        <a:lnSpc>
          <a:spcPct val="10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370C91-F627-B74F-EF20-9C1A15422FE0}"/>
              </a:ext>
            </a:extLst>
          </p:cNvPr>
          <p:cNvSpPr>
            <a:spLocks noGrp="1"/>
          </p:cNvSpPr>
          <p:nvPr>
            <p:ph type="ctrTitle"/>
          </p:nvPr>
        </p:nvSpPr>
        <p:spPr>
          <a:xfrm>
            <a:off x="146221" y="397275"/>
            <a:ext cx="2628785" cy="3761257"/>
          </a:xfrm>
        </p:spPr>
        <p:txBody>
          <a:bodyPr anchor="ctr">
            <a:normAutofit/>
          </a:bodyPr>
          <a:lstStyle/>
          <a:p>
            <a:r>
              <a:rPr lang="en-ZA" sz="3200" dirty="0"/>
              <a:t>Lecturer Claims Management System </a:t>
            </a:r>
          </a:p>
        </p:txBody>
      </p:sp>
      <p:sp>
        <p:nvSpPr>
          <p:cNvPr id="3" name="Subtitle 2">
            <a:extLst>
              <a:ext uri="{FF2B5EF4-FFF2-40B4-BE49-F238E27FC236}">
                <a16:creationId xmlns:a16="http://schemas.microsoft.com/office/drawing/2014/main" id="{E99BDB63-E58F-DD7D-3546-9D12E738D593}"/>
              </a:ext>
            </a:extLst>
          </p:cNvPr>
          <p:cNvSpPr>
            <a:spLocks noGrp="1"/>
          </p:cNvSpPr>
          <p:nvPr>
            <p:ph type="subTitle" idx="1"/>
          </p:nvPr>
        </p:nvSpPr>
        <p:spPr>
          <a:xfrm>
            <a:off x="146221" y="4846029"/>
            <a:ext cx="2550597" cy="1478402"/>
          </a:xfrm>
        </p:spPr>
        <p:txBody>
          <a:bodyPr anchor="ctr">
            <a:normAutofit/>
          </a:bodyPr>
          <a:lstStyle/>
          <a:p>
            <a:r>
              <a:rPr lang="en-ZA" sz="1800" dirty="0"/>
              <a:t>PRog6212_P3:</a:t>
            </a:r>
          </a:p>
          <a:p>
            <a:r>
              <a:rPr lang="en-ZA" sz="1800" dirty="0"/>
              <a:t>ST10114043</a:t>
            </a:r>
          </a:p>
        </p:txBody>
      </p:sp>
      <p:pic>
        <p:nvPicPr>
          <p:cNvPr id="4" name="Picture 3" descr="Vector background of vibrant colors splashing">
            <a:extLst>
              <a:ext uri="{FF2B5EF4-FFF2-40B4-BE49-F238E27FC236}">
                <a16:creationId xmlns:a16="http://schemas.microsoft.com/office/drawing/2014/main" id="{BFBF7AFB-70DA-FBEC-ACE5-18EF9454E310}"/>
              </a:ext>
            </a:extLst>
          </p:cNvPr>
          <p:cNvPicPr>
            <a:picLocks noChangeAspect="1"/>
          </p:cNvPicPr>
          <p:nvPr/>
        </p:nvPicPr>
        <p:blipFill>
          <a:blip r:embed="rId3"/>
          <a:srcRect l="4667" r="4666" b="-1"/>
          <a:stretch>
            <a:fillRect/>
          </a:stretch>
        </p:blipFill>
        <p:spPr>
          <a:xfrm>
            <a:off x="3047998" y="-1"/>
            <a:ext cx="9144002" cy="6857990"/>
          </a:xfrm>
          <a:prstGeom prst="rect">
            <a:avLst/>
          </a:prstGeom>
        </p:spPr>
      </p:pic>
    </p:spTree>
    <p:extLst>
      <p:ext uri="{BB962C8B-B14F-4D97-AF65-F5344CB8AC3E}">
        <p14:creationId xmlns:p14="http://schemas.microsoft.com/office/powerpoint/2010/main" val="522002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20EF-7D5C-7368-AA95-64FD7A8D9ED1}"/>
              </a:ext>
            </a:extLst>
          </p:cNvPr>
          <p:cNvSpPr>
            <a:spLocks noGrp="1"/>
          </p:cNvSpPr>
          <p:nvPr>
            <p:ph type="title"/>
          </p:nvPr>
        </p:nvSpPr>
        <p:spPr/>
        <p:txBody>
          <a:bodyPr/>
          <a:lstStyle/>
          <a:p>
            <a:r>
              <a:rPr lang="en-ZA" dirty="0"/>
              <a:t>PROBLEM AND SOLUTION: </a:t>
            </a:r>
          </a:p>
        </p:txBody>
      </p:sp>
      <p:sp>
        <p:nvSpPr>
          <p:cNvPr id="3" name="Content Placeholder 2">
            <a:extLst>
              <a:ext uri="{FF2B5EF4-FFF2-40B4-BE49-F238E27FC236}">
                <a16:creationId xmlns:a16="http://schemas.microsoft.com/office/drawing/2014/main" id="{D23E6F8B-B466-19B2-B857-9DE96A7F1015}"/>
              </a:ext>
            </a:extLst>
          </p:cNvPr>
          <p:cNvSpPr>
            <a:spLocks noGrp="1"/>
          </p:cNvSpPr>
          <p:nvPr>
            <p:ph idx="1"/>
          </p:nvPr>
        </p:nvSpPr>
        <p:spPr/>
        <p:txBody>
          <a:bodyPr/>
          <a:lstStyle/>
          <a:p>
            <a:endParaRPr lang="en-US" dirty="0"/>
          </a:p>
          <a:p>
            <a:r>
              <a:rPr lang="en-US" b="1" dirty="0"/>
              <a:t>Problem:</a:t>
            </a:r>
            <a:r>
              <a:rPr lang="en-US" dirty="0"/>
              <a:t> Claims via spreadsheets and emails are slow, inconsistent, and hard to track.</a:t>
            </a:r>
          </a:p>
          <a:p>
            <a:r>
              <a:rPr lang="en-US" b="1" dirty="0"/>
              <a:t>Solution:</a:t>
            </a:r>
            <a:r>
              <a:rPr lang="en-US" dirty="0"/>
              <a:t> A web app with role-based dashboards, secure uploads, and a transparent approval flow.</a:t>
            </a:r>
          </a:p>
          <a:p>
            <a:r>
              <a:rPr lang="en-US" b="1" dirty="0"/>
              <a:t>Presenter notes:</a:t>
            </a:r>
            <a:r>
              <a:rPr lang="en-US" dirty="0"/>
              <a:t> Set context: we replace messy manual processes with a guided, role-aware workflow</a:t>
            </a:r>
          </a:p>
          <a:p>
            <a:endParaRPr lang="en-ZA" dirty="0"/>
          </a:p>
        </p:txBody>
      </p:sp>
    </p:spTree>
    <p:extLst>
      <p:ext uri="{BB962C8B-B14F-4D97-AF65-F5344CB8AC3E}">
        <p14:creationId xmlns:p14="http://schemas.microsoft.com/office/powerpoint/2010/main" val="143390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9E1B9-FD31-0ED7-9A1A-295AD7D3FF56}"/>
              </a:ext>
            </a:extLst>
          </p:cNvPr>
          <p:cNvSpPr>
            <a:spLocks noGrp="1"/>
          </p:cNvSpPr>
          <p:nvPr>
            <p:ph type="ctrTitle"/>
          </p:nvPr>
        </p:nvSpPr>
        <p:spPr/>
        <p:txBody>
          <a:bodyPr/>
          <a:lstStyle/>
          <a:p>
            <a:endParaRPr lang="en-ZA" dirty="0"/>
          </a:p>
        </p:txBody>
      </p:sp>
      <p:sp>
        <p:nvSpPr>
          <p:cNvPr id="3" name="Subtitle 2">
            <a:extLst>
              <a:ext uri="{FF2B5EF4-FFF2-40B4-BE49-F238E27FC236}">
                <a16:creationId xmlns:a16="http://schemas.microsoft.com/office/drawing/2014/main" id="{42AA472B-FF8A-770D-6113-593FA1F7C545}"/>
              </a:ext>
            </a:extLst>
          </p:cNvPr>
          <p:cNvSpPr>
            <a:spLocks noGrp="1"/>
          </p:cNvSpPr>
          <p:nvPr>
            <p:ph type="subTitle" idx="1"/>
          </p:nvPr>
        </p:nvSpPr>
        <p:spPr/>
        <p:txBody>
          <a:bodyPr/>
          <a:lstStyle/>
          <a:p>
            <a:endParaRPr lang="en-ZA" dirty="0"/>
          </a:p>
        </p:txBody>
      </p:sp>
      <p:pic>
        <p:nvPicPr>
          <p:cNvPr id="5" name="Picture 4">
            <a:extLst>
              <a:ext uri="{FF2B5EF4-FFF2-40B4-BE49-F238E27FC236}">
                <a16:creationId xmlns:a16="http://schemas.microsoft.com/office/drawing/2014/main" id="{B792B579-6B8E-F784-63D7-842D540127D3}"/>
              </a:ext>
            </a:extLst>
          </p:cNvPr>
          <p:cNvPicPr>
            <a:picLocks noChangeAspect="1"/>
          </p:cNvPicPr>
          <p:nvPr/>
        </p:nvPicPr>
        <p:blipFill>
          <a:blip r:embed="rId3"/>
          <a:stretch>
            <a:fillRect/>
          </a:stretch>
        </p:blipFill>
        <p:spPr>
          <a:xfrm>
            <a:off x="47314" y="882519"/>
            <a:ext cx="12097372" cy="5092962"/>
          </a:xfrm>
          <a:prstGeom prst="rect">
            <a:avLst/>
          </a:prstGeom>
        </p:spPr>
      </p:pic>
    </p:spTree>
    <p:extLst>
      <p:ext uri="{BB962C8B-B14F-4D97-AF65-F5344CB8AC3E}">
        <p14:creationId xmlns:p14="http://schemas.microsoft.com/office/powerpoint/2010/main" val="315590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69B7A-FD22-FDCF-25B2-279CB76D2832}"/>
              </a:ext>
            </a:extLst>
          </p:cNvPr>
          <p:cNvSpPr>
            <a:spLocks noGrp="1"/>
          </p:cNvSpPr>
          <p:nvPr>
            <p:ph type="title"/>
          </p:nvPr>
        </p:nvSpPr>
        <p:spPr/>
        <p:txBody>
          <a:bodyPr/>
          <a:lstStyle/>
          <a:p>
            <a:r>
              <a:rPr lang="en-ZA" dirty="0"/>
              <a:t>Slide 3: Scenario alignment</a:t>
            </a:r>
            <a:br>
              <a:rPr lang="en-ZA" dirty="0"/>
            </a:br>
            <a:endParaRPr lang="en-ZA" dirty="0"/>
          </a:p>
        </p:txBody>
      </p:sp>
      <p:sp>
        <p:nvSpPr>
          <p:cNvPr id="3" name="Text Placeholder 2">
            <a:extLst>
              <a:ext uri="{FF2B5EF4-FFF2-40B4-BE49-F238E27FC236}">
                <a16:creationId xmlns:a16="http://schemas.microsoft.com/office/drawing/2014/main" id="{EA496A4E-02FC-4D16-35FC-D49B1CB9A676}"/>
              </a:ext>
            </a:extLst>
          </p:cNvPr>
          <p:cNvSpPr>
            <a:spLocks noGrp="1"/>
          </p:cNvSpPr>
          <p:nvPr>
            <p:ph type="body" idx="1"/>
          </p:nvPr>
        </p:nvSpPr>
        <p:spPr/>
        <p:txBody>
          <a:bodyPr>
            <a:normAutofit fontScale="92500" lnSpcReduction="20000"/>
          </a:bodyPr>
          <a:lstStyle/>
          <a:p>
            <a:r>
              <a:rPr lang="en-ZA" b="1" dirty="0"/>
              <a:t>Scenario focus:</a:t>
            </a:r>
            <a:r>
              <a:rPr lang="en-ZA" dirty="0"/>
              <a:t> Independent Contractor lecturers submit monthly claims; Programme Coordinators and Academic Managers verify/approve; HR manages users and emergencies.</a:t>
            </a:r>
          </a:p>
          <a:p>
            <a:r>
              <a:rPr lang="en-ZA" b="1" dirty="0"/>
              <a:t>Fit:</a:t>
            </a:r>
            <a:r>
              <a:rPr lang="en-ZA" dirty="0"/>
              <a:t> CMCS matches this scenario: lecturers submit, coordinators verify, managers approve, HR oversees users and exceptions.</a:t>
            </a:r>
          </a:p>
          <a:p>
            <a:r>
              <a:rPr lang="en-ZA" b="1" dirty="0"/>
              <a:t>Workflow:</a:t>
            </a:r>
            <a:r>
              <a:rPr lang="en-ZA" dirty="0"/>
              <a:t> Simple workflow diagram (Lecturer → Coordinator → Manager → HR).</a:t>
            </a:r>
          </a:p>
          <a:p>
            <a:endParaRPr lang="en-ZA" dirty="0"/>
          </a:p>
        </p:txBody>
      </p:sp>
    </p:spTree>
    <p:extLst>
      <p:ext uri="{BB962C8B-B14F-4D97-AF65-F5344CB8AC3E}">
        <p14:creationId xmlns:p14="http://schemas.microsoft.com/office/powerpoint/2010/main" val="2562615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B181-9DED-6FAB-82F8-97197EF33A95}"/>
              </a:ext>
            </a:extLst>
          </p:cNvPr>
          <p:cNvSpPr>
            <a:spLocks noGrp="1"/>
          </p:cNvSpPr>
          <p:nvPr>
            <p:ph type="ctrTitle"/>
          </p:nvPr>
        </p:nvSpPr>
        <p:spPr/>
        <p:txBody>
          <a:bodyPr/>
          <a:lstStyle/>
          <a:p>
            <a:r>
              <a:rPr lang="en-ZA" dirty="0"/>
              <a:t>Tech stack and architecture</a:t>
            </a:r>
          </a:p>
        </p:txBody>
      </p:sp>
      <p:sp>
        <p:nvSpPr>
          <p:cNvPr id="4" name="Rectangle 1">
            <a:extLst>
              <a:ext uri="{FF2B5EF4-FFF2-40B4-BE49-F238E27FC236}">
                <a16:creationId xmlns:a16="http://schemas.microsoft.com/office/drawing/2014/main" id="{BEF66F02-6310-83D4-01BE-C8C68C615AC9}"/>
              </a:ext>
            </a:extLst>
          </p:cNvPr>
          <p:cNvSpPr>
            <a:spLocks noGrp="1" noChangeArrowheads="1"/>
          </p:cNvSpPr>
          <p:nvPr>
            <p:ph type="subTitle" idx="1"/>
          </p:nvPr>
        </p:nvSpPr>
        <p:spPr bwMode="auto">
          <a:xfrm>
            <a:off x="256032" y="4053951"/>
            <a:ext cx="1144828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ASP.NET Core MVC, Identity (role-based auth), EF Core with SQLite.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Bootstrap 5 for clean, responsive layouts.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Storage:</a:t>
            </a:r>
            <a:r>
              <a:rPr kumimoji="0" lang="en-US" altLang="en-US" sz="1800" b="0" i="0" u="none" strike="noStrike" cap="none" normalizeH="0" baseline="0" dirty="0">
                <a:ln>
                  <a:noFill/>
                </a:ln>
                <a:solidFill>
                  <a:schemeClr val="tx1"/>
                </a:solidFill>
                <a:effectLst/>
                <a:latin typeface="Arial" panose="020B0604020202020204" pitchFamily="34" charset="0"/>
              </a:rPr>
              <a:t> Claims + files persisted; encryption/decryption service for secure file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Testing: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xUnit</a:t>
            </a:r>
            <a:r>
              <a:rPr kumimoji="0" lang="en-US" altLang="en-US" sz="1800" b="0" i="0" u="none" strike="noStrike" cap="none" normalizeH="0" baseline="0" dirty="0">
                <a:ln>
                  <a:noFill/>
                </a:ln>
                <a:solidFill>
                  <a:schemeClr val="tx1"/>
                </a:solidFill>
                <a:effectLst/>
                <a:latin typeface="Arial" panose="020B0604020202020204" pitchFamily="34" charset="0"/>
              </a:rPr>
              <a:t> coverage for core flows.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6587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41F5F4-1349-EC08-FB9C-7D38C8F3B13F}"/>
              </a:ext>
            </a:extLst>
          </p:cNvPr>
          <p:cNvPicPr>
            <a:picLocks noChangeAspect="1"/>
          </p:cNvPicPr>
          <p:nvPr/>
        </p:nvPicPr>
        <p:blipFill>
          <a:blip r:embed="rId2"/>
          <a:stretch>
            <a:fillRect/>
          </a:stretch>
        </p:blipFill>
        <p:spPr>
          <a:xfrm>
            <a:off x="3543169" y="511025"/>
            <a:ext cx="5105662" cy="5835950"/>
          </a:xfrm>
          <a:prstGeom prst="rect">
            <a:avLst/>
          </a:prstGeom>
        </p:spPr>
      </p:pic>
    </p:spTree>
    <p:extLst>
      <p:ext uri="{BB962C8B-B14F-4D97-AF65-F5344CB8AC3E}">
        <p14:creationId xmlns:p14="http://schemas.microsoft.com/office/powerpoint/2010/main" val="381218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0CBCC4-073A-6AE1-279C-5267DB229196}"/>
              </a:ext>
            </a:extLst>
          </p:cNvPr>
          <p:cNvPicPr>
            <a:picLocks noChangeAspect="1"/>
          </p:cNvPicPr>
          <p:nvPr/>
        </p:nvPicPr>
        <p:blipFill>
          <a:blip r:embed="rId2"/>
          <a:stretch>
            <a:fillRect/>
          </a:stretch>
        </p:blipFill>
        <p:spPr>
          <a:xfrm>
            <a:off x="3530468" y="495149"/>
            <a:ext cx="5131064" cy="5867702"/>
          </a:xfrm>
          <a:prstGeom prst="rect">
            <a:avLst/>
          </a:prstGeom>
        </p:spPr>
      </p:pic>
    </p:spTree>
    <p:extLst>
      <p:ext uri="{BB962C8B-B14F-4D97-AF65-F5344CB8AC3E}">
        <p14:creationId xmlns:p14="http://schemas.microsoft.com/office/powerpoint/2010/main" val="330437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44EBF7-ABB9-C204-0280-9778A8C4E0FD}"/>
              </a:ext>
            </a:extLst>
          </p:cNvPr>
          <p:cNvPicPr>
            <a:picLocks noChangeAspect="1"/>
          </p:cNvPicPr>
          <p:nvPr/>
        </p:nvPicPr>
        <p:blipFill>
          <a:blip r:embed="rId3"/>
          <a:stretch>
            <a:fillRect/>
          </a:stretch>
        </p:blipFill>
        <p:spPr>
          <a:xfrm>
            <a:off x="3276600" y="491974"/>
            <a:ext cx="5365881" cy="6188828"/>
          </a:xfrm>
          <a:prstGeom prst="rect">
            <a:avLst/>
          </a:prstGeom>
        </p:spPr>
      </p:pic>
    </p:spTree>
    <p:extLst>
      <p:ext uri="{BB962C8B-B14F-4D97-AF65-F5344CB8AC3E}">
        <p14:creationId xmlns:p14="http://schemas.microsoft.com/office/powerpoint/2010/main" val="987212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BD5C-20FB-0C59-EB2D-769B07B128E2}"/>
              </a:ext>
            </a:extLst>
          </p:cNvPr>
          <p:cNvSpPr>
            <a:spLocks noGrp="1"/>
          </p:cNvSpPr>
          <p:nvPr>
            <p:ph type="ctrTitle"/>
          </p:nvPr>
        </p:nvSpPr>
        <p:spPr/>
        <p:txBody>
          <a:bodyPr/>
          <a:lstStyle/>
          <a:p>
            <a:r>
              <a:rPr lang="en-US" dirty="0"/>
              <a:t>HR first login and user management</a:t>
            </a:r>
            <a:br>
              <a:rPr lang="en-US" dirty="0"/>
            </a:br>
            <a:endParaRPr lang="en-ZA" dirty="0"/>
          </a:p>
        </p:txBody>
      </p:sp>
      <p:sp>
        <p:nvSpPr>
          <p:cNvPr id="3" name="Subtitle 2">
            <a:extLst>
              <a:ext uri="{FF2B5EF4-FFF2-40B4-BE49-F238E27FC236}">
                <a16:creationId xmlns:a16="http://schemas.microsoft.com/office/drawing/2014/main" id="{3E5E71C0-6F6B-3E3F-DDB7-42392BB2A301}"/>
              </a:ext>
            </a:extLst>
          </p:cNvPr>
          <p:cNvSpPr>
            <a:spLocks noGrp="1"/>
          </p:cNvSpPr>
          <p:nvPr>
            <p:ph type="subTitle" idx="1"/>
          </p:nvPr>
        </p:nvSpPr>
        <p:spPr>
          <a:xfrm>
            <a:off x="484552" y="3592893"/>
            <a:ext cx="8397511" cy="2460625"/>
          </a:xfrm>
        </p:spPr>
        <p:txBody>
          <a:bodyPr>
            <a:normAutofit fontScale="92500" lnSpcReduction="20000"/>
          </a:bodyPr>
          <a:lstStyle/>
          <a:p>
            <a:r>
              <a:rPr lang="en-US" b="1" dirty="0"/>
              <a:t>Login flow:</a:t>
            </a:r>
            <a:r>
              <a:rPr lang="en-US" dirty="0"/>
              <a:t> HR logs in first (</a:t>
            </a:r>
            <a:r>
              <a:rPr lang="en-US" dirty="0" err="1"/>
              <a:t>hr@cms.local</a:t>
            </a:r>
            <a:r>
              <a:rPr lang="en-US" dirty="0"/>
              <a:t> / Pass@123); lands directly on HR dashboard.</a:t>
            </a:r>
          </a:p>
          <a:p>
            <a:r>
              <a:rPr lang="en-US" b="1" dirty="0"/>
              <a:t>Control:</a:t>
            </a:r>
            <a:r>
              <a:rPr lang="en-US" dirty="0"/>
              <a:t> HR creates, edits, and deletes users; assigns roles and hourly rates.</a:t>
            </a:r>
          </a:p>
          <a:p>
            <a:r>
              <a:rPr lang="en-US" b="1" dirty="0"/>
              <a:t>Access:</a:t>
            </a:r>
            <a:r>
              <a:rPr lang="en-US" dirty="0"/>
              <a:t> Role-aware navigation limits visibility to what each role needs.</a:t>
            </a:r>
          </a:p>
          <a:p>
            <a:endParaRPr lang="en-ZA" dirty="0"/>
          </a:p>
        </p:txBody>
      </p:sp>
    </p:spTree>
    <p:extLst>
      <p:ext uri="{BB962C8B-B14F-4D97-AF65-F5344CB8AC3E}">
        <p14:creationId xmlns:p14="http://schemas.microsoft.com/office/powerpoint/2010/main" val="1040333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A3218F-5724-1B4E-D858-ADF25E0D9388}"/>
              </a:ext>
            </a:extLst>
          </p:cNvPr>
          <p:cNvPicPr>
            <a:picLocks noChangeAspect="1"/>
          </p:cNvPicPr>
          <p:nvPr/>
        </p:nvPicPr>
        <p:blipFill>
          <a:blip r:embed="rId3"/>
          <a:stretch>
            <a:fillRect/>
          </a:stretch>
        </p:blipFill>
        <p:spPr>
          <a:xfrm>
            <a:off x="72715" y="234786"/>
            <a:ext cx="12046569" cy="6388428"/>
          </a:xfrm>
          <a:prstGeom prst="rect">
            <a:avLst/>
          </a:prstGeom>
        </p:spPr>
      </p:pic>
    </p:spTree>
    <p:extLst>
      <p:ext uri="{BB962C8B-B14F-4D97-AF65-F5344CB8AC3E}">
        <p14:creationId xmlns:p14="http://schemas.microsoft.com/office/powerpoint/2010/main" val="3266350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94696-8317-C315-C0F7-DEA2E9B80E71}"/>
              </a:ext>
            </a:extLst>
          </p:cNvPr>
          <p:cNvSpPr>
            <a:spLocks noGrp="1"/>
          </p:cNvSpPr>
          <p:nvPr>
            <p:ph type="ctrTitle"/>
          </p:nvPr>
        </p:nvSpPr>
        <p:spPr/>
        <p:txBody>
          <a:bodyPr/>
          <a:lstStyle/>
          <a:p>
            <a:r>
              <a:rPr lang="en-ZA" dirty="0"/>
              <a:t>Lecturer claim submission</a:t>
            </a:r>
          </a:p>
        </p:txBody>
      </p:sp>
      <p:sp>
        <p:nvSpPr>
          <p:cNvPr id="4" name="Rectangle 1">
            <a:extLst>
              <a:ext uri="{FF2B5EF4-FFF2-40B4-BE49-F238E27FC236}">
                <a16:creationId xmlns:a16="http://schemas.microsoft.com/office/drawing/2014/main" id="{56518B74-382E-1F31-6E4C-4AA5BF957CB7}"/>
              </a:ext>
            </a:extLst>
          </p:cNvPr>
          <p:cNvSpPr>
            <a:spLocks noGrp="1" noChangeArrowheads="1"/>
          </p:cNvSpPr>
          <p:nvPr>
            <p:ph type="subTitle" idx="1"/>
          </p:nvPr>
        </p:nvSpPr>
        <p:spPr bwMode="auto">
          <a:xfrm>
            <a:off x="137160" y="4301461"/>
            <a:ext cx="118140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Pulled data:</a:t>
            </a:r>
            <a:r>
              <a:rPr kumimoji="0" lang="en-US" altLang="en-US" sz="1800" b="0" i="0" u="none" strike="noStrike" cap="none" normalizeH="0" baseline="0" dirty="0">
                <a:ln>
                  <a:noFill/>
                </a:ln>
                <a:solidFill>
                  <a:schemeClr val="tx1"/>
                </a:solidFill>
                <a:effectLst/>
                <a:latin typeface="Arial" panose="020B0604020202020204" pitchFamily="34" charset="0"/>
              </a:rPr>
              <a:t> Name, surname, hourly rate pulled from HR’s records — lecturer doesn’t set their own 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Auto-calculation:</a:t>
            </a:r>
            <a:r>
              <a:rPr kumimoji="0" lang="en-US" altLang="en-US" sz="1800" b="0" i="0" u="none" strike="noStrike" cap="none" normalizeH="0" baseline="0" dirty="0">
                <a:ln>
                  <a:noFill/>
                </a:ln>
                <a:solidFill>
                  <a:schemeClr val="tx1"/>
                </a:solidFill>
                <a:effectLst/>
                <a:latin typeface="Arial" panose="020B0604020202020204" pitchFamily="34" charset="0"/>
              </a:rPr>
              <a:t> Earnings = hours × hourly rate shown live as hours are entered.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Validation:</a:t>
            </a:r>
            <a:r>
              <a:rPr kumimoji="0" lang="en-US" altLang="en-US" sz="1800" b="0" i="0" u="none" strike="noStrike" cap="none" normalizeH="0" baseline="0" dirty="0">
                <a:ln>
                  <a:noFill/>
                </a:ln>
                <a:solidFill>
                  <a:schemeClr val="tx1"/>
                </a:solidFill>
                <a:effectLst/>
                <a:latin typeface="Arial" panose="020B0604020202020204" pitchFamily="34" charset="0"/>
              </a:rPr>
              <a:t> Guards for realistic monthly hours (e.g., 180-hour threshold).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454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8192D-B6FA-97BE-F2BC-A5A98B915D9F}"/>
              </a:ext>
            </a:extLst>
          </p:cNvPr>
          <p:cNvPicPr>
            <a:picLocks noChangeAspect="1"/>
          </p:cNvPicPr>
          <p:nvPr/>
        </p:nvPicPr>
        <p:blipFill>
          <a:blip r:embed="rId3"/>
          <a:stretch>
            <a:fillRect/>
          </a:stretch>
        </p:blipFill>
        <p:spPr>
          <a:xfrm>
            <a:off x="148919" y="234786"/>
            <a:ext cx="11894161" cy="6388428"/>
          </a:xfrm>
          <a:prstGeom prst="rect">
            <a:avLst/>
          </a:prstGeom>
        </p:spPr>
      </p:pic>
    </p:spTree>
    <p:extLst>
      <p:ext uri="{BB962C8B-B14F-4D97-AF65-F5344CB8AC3E}">
        <p14:creationId xmlns:p14="http://schemas.microsoft.com/office/powerpoint/2010/main" val="227823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47D221-04BE-0715-ED1B-DA17B3CDF1DE}"/>
              </a:ext>
            </a:extLst>
          </p:cNvPr>
          <p:cNvPicPr>
            <a:picLocks noChangeAspect="1"/>
          </p:cNvPicPr>
          <p:nvPr/>
        </p:nvPicPr>
        <p:blipFill>
          <a:blip r:embed="rId3"/>
          <a:stretch>
            <a:fillRect/>
          </a:stretch>
        </p:blipFill>
        <p:spPr>
          <a:xfrm>
            <a:off x="609318" y="323690"/>
            <a:ext cx="10973364" cy="6210619"/>
          </a:xfrm>
          <a:prstGeom prst="rect">
            <a:avLst/>
          </a:prstGeom>
        </p:spPr>
      </p:pic>
    </p:spTree>
    <p:extLst>
      <p:ext uri="{BB962C8B-B14F-4D97-AF65-F5344CB8AC3E}">
        <p14:creationId xmlns:p14="http://schemas.microsoft.com/office/powerpoint/2010/main" val="4007447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BB985-AD6B-34BC-5C2C-AF19E47A0988}"/>
              </a:ext>
            </a:extLst>
          </p:cNvPr>
          <p:cNvSpPr>
            <a:spLocks noGrp="1"/>
          </p:cNvSpPr>
          <p:nvPr>
            <p:ph type="ctrTitle"/>
          </p:nvPr>
        </p:nvSpPr>
        <p:spPr/>
        <p:txBody>
          <a:bodyPr/>
          <a:lstStyle/>
          <a:p>
            <a:r>
              <a:rPr lang="en-ZA" dirty="0"/>
              <a:t>File handling and security</a:t>
            </a:r>
          </a:p>
        </p:txBody>
      </p:sp>
      <p:sp>
        <p:nvSpPr>
          <p:cNvPr id="4" name="Rectangle 1">
            <a:extLst>
              <a:ext uri="{FF2B5EF4-FFF2-40B4-BE49-F238E27FC236}">
                <a16:creationId xmlns:a16="http://schemas.microsoft.com/office/drawing/2014/main" id="{B5AC908E-7443-F264-F498-C3C4A938BAAC}"/>
              </a:ext>
            </a:extLst>
          </p:cNvPr>
          <p:cNvSpPr>
            <a:spLocks noGrp="1" noChangeArrowheads="1"/>
          </p:cNvSpPr>
          <p:nvPr>
            <p:ph type="subTitle" idx="1"/>
          </p:nvPr>
        </p:nvSpPr>
        <p:spPr bwMode="auto">
          <a:xfrm>
            <a:off x="484552" y="4195609"/>
            <a:ext cx="117074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Upload:</a:t>
            </a:r>
            <a:r>
              <a:rPr kumimoji="0" lang="en-US" altLang="en-US" sz="1800" b="0" i="0" u="none" strike="noStrike" cap="none" normalizeH="0" baseline="0" dirty="0">
                <a:ln>
                  <a:noFill/>
                </a:ln>
                <a:solidFill>
                  <a:schemeClr val="tx1"/>
                </a:solidFill>
                <a:effectLst/>
                <a:latin typeface="Arial" panose="020B0604020202020204" pitchFamily="34" charset="0"/>
              </a:rPr>
              <a:t> PDF, DOCX, XLSX (and images if needed) linked to the claim.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a:t>
            </a:r>
            <a:r>
              <a:rPr kumimoji="0" lang="en-US" altLang="en-US" sz="1800" b="0" i="0" u="none" strike="noStrike" cap="none" normalizeH="0" baseline="0" dirty="0">
                <a:ln>
                  <a:noFill/>
                </a:ln>
                <a:solidFill>
                  <a:schemeClr val="tx1"/>
                </a:solidFill>
                <a:effectLst/>
                <a:latin typeface="Arial" panose="020B0604020202020204" pitchFamily="34" charset="0"/>
              </a:rPr>
              <a:t> Encryption/decryption service included for secure file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Feedback:</a:t>
            </a:r>
            <a:r>
              <a:rPr kumimoji="0" lang="en-US" altLang="en-US" sz="1800" b="0" i="0" u="none" strike="noStrike" cap="none" normalizeH="0" baseline="0" dirty="0">
                <a:ln>
                  <a:noFill/>
                </a:ln>
                <a:solidFill>
                  <a:schemeClr val="tx1"/>
                </a:solidFill>
                <a:effectLst/>
                <a:latin typeface="Arial" panose="020B0604020202020204" pitchFamily="34" charset="0"/>
              </a:rPr>
              <a:t> Clear success/error messages; file name displayed on form.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121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099658-2DBB-0BD0-499C-B241D24F9635}"/>
              </a:ext>
            </a:extLst>
          </p:cNvPr>
          <p:cNvPicPr>
            <a:picLocks noChangeAspect="1"/>
          </p:cNvPicPr>
          <p:nvPr/>
        </p:nvPicPr>
        <p:blipFill>
          <a:blip r:embed="rId2"/>
          <a:stretch>
            <a:fillRect/>
          </a:stretch>
        </p:blipFill>
        <p:spPr>
          <a:xfrm>
            <a:off x="85416" y="1139707"/>
            <a:ext cx="12021168" cy="4578585"/>
          </a:xfrm>
          <a:prstGeom prst="rect">
            <a:avLst/>
          </a:prstGeom>
        </p:spPr>
      </p:pic>
    </p:spTree>
    <p:extLst>
      <p:ext uri="{BB962C8B-B14F-4D97-AF65-F5344CB8AC3E}">
        <p14:creationId xmlns:p14="http://schemas.microsoft.com/office/powerpoint/2010/main" val="3360193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25045-13C3-FB91-FC74-4354CE1C19AA}"/>
              </a:ext>
            </a:extLst>
          </p:cNvPr>
          <p:cNvPicPr>
            <a:picLocks noChangeAspect="1"/>
          </p:cNvPicPr>
          <p:nvPr/>
        </p:nvPicPr>
        <p:blipFill>
          <a:blip r:embed="rId3"/>
          <a:stretch>
            <a:fillRect/>
          </a:stretch>
        </p:blipFill>
        <p:spPr>
          <a:xfrm>
            <a:off x="3295506" y="263362"/>
            <a:ext cx="5600988" cy="6331275"/>
          </a:xfrm>
          <a:prstGeom prst="rect">
            <a:avLst/>
          </a:prstGeom>
        </p:spPr>
      </p:pic>
    </p:spTree>
    <p:extLst>
      <p:ext uri="{BB962C8B-B14F-4D97-AF65-F5344CB8AC3E}">
        <p14:creationId xmlns:p14="http://schemas.microsoft.com/office/powerpoint/2010/main" val="3665809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C783-C769-C690-0046-A11DDBE1B13E}"/>
              </a:ext>
            </a:extLst>
          </p:cNvPr>
          <p:cNvSpPr>
            <a:spLocks noGrp="1"/>
          </p:cNvSpPr>
          <p:nvPr>
            <p:ph type="ctrTitle"/>
          </p:nvPr>
        </p:nvSpPr>
        <p:spPr/>
        <p:txBody>
          <a:bodyPr/>
          <a:lstStyle/>
          <a:p>
            <a:r>
              <a:rPr lang="en-ZA" dirty="0"/>
              <a:t>Coordinator dashboard</a:t>
            </a:r>
          </a:p>
        </p:txBody>
      </p:sp>
      <p:sp>
        <p:nvSpPr>
          <p:cNvPr id="4" name="Rectangle 1">
            <a:extLst>
              <a:ext uri="{FF2B5EF4-FFF2-40B4-BE49-F238E27FC236}">
                <a16:creationId xmlns:a16="http://schemas.microsoft.com/office/drawing/2014/main" id="{9EC53E95-A14F-B555-C269-27FB6FDCE510}"/>
              </a:ext>
            </a:extLst>
          </p:cNvPr>
          <p:cNvSpPr>
            <a:spLocks noGrp="1" noChangeArrowheads="1"/>
          </p:cNvSpPr>
          <p:nvPr>
            <p:ph type="subTitle" idx="1"/>
          </p:nvPr>
        </p:nvSpPr>
        <p:spPr bwMode="auto">
          <a:xfrm>
            <a:off x="173736" y="4698485"/>
            <a:ext cx="120182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View pending claims; verify or reject with comments.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Scope:</a:t>
            </a:r>
            <a:r>
              <a:rPr kumimoji="0" lang="en-US" altLang="en-US" sz="1800" b="0" i="0" u="none" strike="noStrike" cap="none" normalizeH="0" baseline="0" dirty="0">
                <a:ln>
                  <a:noFill/>
                </a:ln>
                <a:solidFill>
                  <a:schemeClr val="tx1"/>
                </a:solidFill>
                <a:effectLst/>
                <a:latin typeface="Arial" panose="020B0604020202020204" pitchFamily="34" charset="0"/>
              </a:rPr>
              <a:t> Only pending claims; clean list with essential info and document links.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9221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415C13-5820-2440-A407-A6E287EA6988}"/>
              </a:ext>
            </a:extLst>
          </p:cNvPr>
          <p:cNvPicPr>
            <a:picLocks noChangeAspect="1"/>
          </p:cNvPicPr>
          <p:nvPr/>
        </p:nvPicPr>
        <p:blipFill>
          <a:blip r:embed="rId3"/>
          <a:stretch>
            <a:fillRect/>
          </a:stretch>
        </p:blipFill>
        <p:spPr>
          <a:xfrm>
            <a:off x="85416" y="1139707"/>
            <a:ext cx="12021168" cy="4578585"/>
          </a:xfrm>
          <a:prstGeom prst="rect">
            <a:avLst/>
          </a:prstGeom>
        </p:spPr>
      </p:pic>
    </p:spTree>
    <p:extLst>
      <p:ext uri="{BB962C8B-B14F-4D97-AF65-F5344CB8AC3E}">
        <p14:creationId xmlns:p14="http://schemas.microsoft.com/office/powerpoint/2010/main" val="55292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9F3C-C36E-BB78-FB19-DA077C327D5D}"/>
              </a:ext>
            </a:extLst>
          </p:cNvPr>
          <p:cNvSpPr>
            <a:spLocks noGrp="1"/>
          </p:cNvSpPr>
          <p:nvPr>
            <p:ph type="ctrTitle"/>
          </p:nvPr>
        </p:nvSpPr>
        <p:spPr/>
        <p:txBody>
          <a:bodyPr/>
          <a:lstStyle/>
          <a:p>
            <a:r>
              <a:rPr lang="en-ZA" dirty="0"/>
              <a:t>Manager Dashboard</a:t>
            </a:r>
          </a:p>
        </p:txBody>
      </p:sp>
      <p:sp>
        <p:nvSpPr>
          <p:cNvPr id="4" name="Rectangle 1">
            <a:extLst>
              <a:ext uri="{FF2B5EF4-FFF2-40B4-BE49-F238E27FC236}">
                <a16:creationId xmlns:a16="http://schemas.microsoft.com/office/drawing/2014/main" id="{03C5E491-34F6-F6E6-A4C5-8C432E7C5FAB}"/>
              </a:ext>
            </a:extLst>
          </p:cNvPr>
          <p:cNvSpPr>
            <a:spLocks noGrp="1" noChangeArrowheads="1"/>
          </p:cNvSpPr>
          <p:nvPr>
            <p:ph type="subTitle" idx="1"/>
          </p:nvPr>
        </p:nvSpPr>
        <p:spPr bwMode="auto">
          <a:xfrm>
            <a:off x="1088571" y="4136539"/>
            <a:ext cx="102652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View verified claims; approve or decline with comments.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Scope:</a:t>
            </a:r>
            <a:r>
              <a:rPr kumimoji="0" lang="en-US" altLang="en-US" sz="1800" b="0" i="0" u="none" strike="noStrike" cap="none" normalizeH="0" baseline="0" dirty="0">
                <a:ln>
                  <a:noFill/>
                </a:ln>
                <a:solidFill>
                  <a:schemeClr val="tx1"/>
                </a:solidFill>
                <a:effectLst/>
                <a:latin typeface="Arial" panose="020B0604020202020204" pitchFamily="34" charset="0"/>
              </a:rPr>
              <a:t> Only claims verified by coordinator.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9242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F0BA00-0C32-590F-8378-6F0D53CA611B}"/>
              </a:ext>
            </a:extLst>
          </p:cNvPr>
          <p:cNvPicPr>
            <a:picLocks noChangeAspect="1"/>
          </p:cNvPicPr>
          <p:nvPr/>
        </p:nvPicPr>
        <p:blipFill>
          <a:blip r:embed="rId3"/>
          <a:stretch>
            <a:fillRect/>
          </a:stretch>
        </p:blipFill>
        <p:spPr>
          <a:xfrm>
            <a:off x="44139" y="1025401"/>
            <a:ext cx="12103722" cy="4807197"/>
          </a:xfrm>
          <a:prstGeom prst="rect">
            <a:avLst/>
          </a:prstGeom>
        </p:spPr>
      </p:pic>
    </p:spTree>
    <p:extLst>
      <p:ext uri="{BB962C8B-B14F-4D97-AF65-F5344CB8AC3E}">
        <p14:creationId xmlns:p14="http://schemas.microsoft.com/office/powerpoint/2010/main" val="80342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357D-71AD-B6C4-AF63-65BAAD54B60F}"/>
              </a:ext>
            </a:extLst>
          </p:cNvPr>
          <p:cNvSpPr>
            <a:spLocks noGrp="1"/>
          </p:cNvSpPr>
          <p:nvPr>
            <p:ph type="ctrTitle"/>
          </p:nvPr>
        </p:nvSpPr>
        <p:spPr/>
        <p:txBody>
          <a:bodyPr/>
          <a:lstStyle/>
          <a:p>
            <a:r>
              <a:rPr lang="en-ZA" dirty="0"/>
              <a:t>Review history and tracking</a:t>
            </a:r>
          </a:p>
        </p:txBody>
      </p:sp>
      <p:sp>
        <p:nvSpPr>
          <p:cNvPr id="4" name="Rectangle 1">
            <a:extLst>
              <a:ext uri="{FF2B5EF4-FFF2-40B4-BE49-F238E27FC236}">
                <a16:creationId xmlns:a16="http://schemas.microsoft.com/office/drawing/2014/main" id="{5519A4AC-5B2E-A04B-4A2E-4031EB7B2191}"/>
              </a:ext>
            </a:extLst>
          </p:cNvPr>
          <p:cNvSpPr>
            <a:spLocks noGrp="1" noChangeArrowheads="1"/>
          </p:cNvSpPr>
          <p:nvPr>
            <p:ph type="subTitle" idx="1"/>
          </p:nvPr>
        </p:nvSpPr>
        <p:spPr bwMode="auto">
          <a:xfrm>
            <a:off x="484552" y="4881940"/>
            <a:ext cx="1133864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Transparency:</a:t>
            </a:r>
            <a:r>
              <a:rPr kumimoji="0" lang="en-US" altLang="en-US" sz="1800" b="0" i="0" u="none" strike="noStrike" cap="none" normalizeH="0" baseline="0" dirty="0">
                <a:ln>
                  <a:noFill/>
                </a:ln>
                <a:solidFill>
                  <a:schemeClr val="tx1"/>
                </a:solidFill>
                <a:effectLst/>
                <a:latin typeface="Arial" panose="020B0604020202020204" pitchFamily="34" charset="0"/>
              </a:rPr>
              <a:t> Every status change captured with who, when, and comments.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Lecturer view:</a:t>
            </a:r>
            <a:r>
              <a:rPr kumimoji="0" lang="en-US" altLang="en-US" sz="1800" b="0" i="0" u="none" strike="noStrike" cap="none" normalizeH="0" baseline="0" dirty="0">
                <a:ln>
                  <a:noFill/>
                </a:ln>
                <a:solidFill>
                  <a:schemeClr val="tx1"/>
                </a:solidFill>
                <a:effectLst/>
                <a:latin typeface="Arial" panose="020B0604020202020204" pitchFamily="34" charset="0"/>
              </a:rPr>
              <a:t> Claims show current status and history — accountability at each step.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200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9B62E-18BC-C2A9-6828-BDCCC3F26EC1}"/>
              </a:ext>
            </a:extLst>
          </p:cNvPr>
          <p:cNvPicPr>
            <a:picLocks noChangeAspect="1"/>
          </p:cNvPicPr>
          <p:nvPr/>
        </p:nvPicPr>
        <p:blipFill>
          <a:blip r:embed="rId2"/>
          <a:stretch>
            <a:fillRect/>
          </a:stretch>
        </p:blipFill>
        <p:spPr>
          <a:xfrm>
            <a:off x="110817" y="349091"/>
            <a:ext cx="11970365" cy="6159817"/>
          </a:xfrm>
          <a:prstGeom prst="rect">
            <a:avLst/>
          </a:prstGeom>
        </p:spPr>
      </p:pic>
    </p:spTree>
    <p:extLst>
      <p:ext uri="{BB962C8B-B14F-4D97-AF65-F5344CB8AC3E}">
        <p14:creationId xmlns:p14="http://schemas.microsoft.com/office/powerpoint/2010/main" val="2768386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43929-9979-33AD-8745-9309A044F007}"/>
              </a:ext>
            </a:extLst>
          </p:cNvPr>
          <p:cNvSpPr>
            <a:spLocks noGrp="1"/>
          </p:cNvSpPr>
          <p:nvPr>
            <p:ph type="ctrTitle"/>
          </p:nvPr>
        </p:nvSpPr>
        <p:spPr/>
        <p:txBody>
          <a:bodyPr/>
          <a:lstStyle/>
          <a:p>
            <a:r>
              <a:rPr lang="en-ZA" dirty="0"/>
              <a:t>Automation Highlights</a:t>
            </a:r>
          </a:p>
        </p:txBody>
      </p:sp>
      <p:sp>
        <p:nvSpPr>
          <p:cNvPr id="4" name="Rectangle 1">
            <a:extLst>
              <a:ext uri="{FF2B5EF4-FFF2-40B4-BE49-F238E27FC236}">
                <a16:creationId xmlns:a16="http://schemas.microsoft.com/office/drawing/2014/main" id="{D3B7B120-D5E4-2F0B-399B-A62BF91392F2}"/>
              </a:ext>
            </a:extLst>
          </p:cNvPr>
          <p:cNvSpPr>
            <a:spLocks noGrp="1" noChangeArrowheads="1"/>
          </p:cNvSpPr>
          <p:nvPr>
            <p:ph type="subTitle" idx="1"/>
          </p:nvPr>
        </p:nvSpPr>
        <p:spPr bwMode="auto">
          <a:xfrm>
            <a:off x="484551" y="4651840"/>
            <a:ext cx="115006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Lecturer automation:</a:t>
            </a:r>
            <a:r>
              <a:rPr kumimoji="0" lang="en-US" altLang="en-US" sz="1800" b="0" i="0" u="none" strike="noStrike" cap="none" normalizeH="0" baseline="0" dirty="0">
                <a:ln>
                  <a:noFill/>
                </a:ln>
                <a:solidFill>
                  <a:schemeClr val="tx1"/>
                </a:solidFill>
                <a:effectLst/>
                <a:latin typeface="Arial" panose="020B0604020202020204" pitchFamily="34" charset="0"/>
              </a:rPr>
              <a:t> Auto-calc + validation + HR-sourced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Workflow automation:</a:t>
            </a:r>
            <a:r>
              <a:rPr kumimoji="0" lang="en-US" altLang="en-US" sz="1800" b="0" i="0" u="none" strike="noStrike" cap="none" normalizeH="0" baseline="0" dirty="0">
                <a:ln>
                  <a:noFill/>
                </a:ln>
                <a:solidFill>
                  <a:schemeClr val="tx1"/>
                </a:solidFill>
                <a:effectLst/>
                <a:latin typeface="Arial" panose="020B0604020202020204" pitchFamily="34" charset="0"/>
              </a:rPr>
              <a:t> Role-based redirects; filtered dashboards; clean actions (verify/approve).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HR automation:</a:t>
            </a:r>
            <a:r>
              <a:rPr kumimoji="0" lang="en-US" altLang="en-US" sz="1800" b="0" i="0" u="none" strike="noStrike" cap="none" normalizeH="0" baseline="0" dirty="0">
                <a:ln>
                  <a:noFill/>
                </a:ln>
                <a:solidFill>
                  <a:schemeClr val="tx1"/>
                </a:solidFill>
                <a:effectLst/>
                <a:latin typeface="Arial" panose="020B0604020202020204" pitchFamily="34" charset="0"/>
              </a:rPr>
              <a:t> One-click user lifecycle (create/edit/delete); default HR routing.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4079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6A7719-D7DC-623E-DD54-93FC179F88E5}"/>
              </a:ext>
            </a:extLst>
          </p:cNvPr>
          <p:cNvPicPr>
            <a:picLocks noChangeAspect="1"/>
          </p:cNvPicPr>
          <p:nvPr/>
        </p:nvPicPr>
        <p:blipFill>
          <a:blip r:embed="rId3"/>
          <a:stretch>
            <a:fillRect/>
          </a:stretch>
        </p:blipFill>
        <p:spPr>
          <a:xfrm>
            <a:off x="3295506" y="263362"/>
            <a:ext cx="5600988" cy="6331275"/>
          </a:xfrm>
          <a:prstGeom prst="rect">
            <a:avLst/>
          </a:prstGeom>
        </p:spPr>
      </p:pic>
    </p:spTree>
    <p:extLst>
      <p:ext uri="{BB962C8B-B14F-4D97-AF65-F5344CB8AC3E}">
        <p14:creationId xmlns:p14="http://schemas.microsoft.com/office/powerpoint/2010/main" val="3006058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E8C23-9D35-FC43-EEF3-87E5E65DD99F}"/>
              </a:ext>
            </a:extLst>
          </p:cNvPr>
          <p:cNvSpPr>
            <a:spLocks noGrp="1"/>
          </p:cNvSpPr>
          <p:nvPr>
            <p:ph type="ctrTitle"/>
          </p:nvPr>
        </p:nvSpPr>
        <p:spPr/>
        <p:txBody>
          <a:bodyPr/>
          <a:lstStyle/>
          <a:p>
            <a:r>
              <a:rPr lang="en-ZA" dirty="0"/>
              <a:t>Conclusion</a:t>
            </a:r>
          </a:p>
        </p:txBody>
      </p:sp>
      <p:sp>
        <p:nvSpPr>
          <p:cNvPr id="3" name="Subtitle 2">
            <a:extLst>
              <a:ext uri="{FF2B5EF4-FFF2-40B4-BE49-F238E27FC236}">
                <a16:creationId xmlns:a16="http://schemas.microsoft.com/office/drawing/2014/main" id="{8962C241-1DE2-DEE5-370E-BF8306273C11}"/>
              </a:ext>
            </a:extLst>
          </p:cNvPr>
          <p:cNvSpPr>
            <a:spLocks noGrp="1"/>
          </p:cNvSpPr>
          <p:nvPr>
            <p:ph type="subTitle" idx="1"/>
          </p:nvPr>
        </p:nvSpPr>
        <p:spPr>
          <a:xfrm>
            <a:off x="484552" y="3602037"/>
            <a:ext cx="9921320" cy="2954211"/>
          </a:xfrm>
        </p:spPr>
        <p:txBody>
          <a:bodyPr>
            <a:normAutofit/>
          </a:bodyPr>
          <a:lstStyle/>
          <a:p>
            <a:r>
              <a:rPr lang="en-US" dirty="0"/>
              <a:t>The Contract Monthly Claim System delivers one clear solution: lecturers submit, coordinators verify, managers approve, and HR manages users. Every role has its own dashboard, every claim is tracked with full history, and files are handled securely. The system replaces messy spreadsheets with automation, accountability, and transparency. It is efficient, reliable, and ready for real workflows.</a:t>
            </a:r>
            <a:endParaRPr lang="en-ZA" dirty="0"/>
          </a:p>
        </p:txBody>
      </p:sp>
    </p:spTree>
    <p:extLst>
      <p:ext uri="{BB962C8B-B14F-4D97-AF65-F5344CB8AC3E}">
        <p14:creationId xmlns:p14="http://schemas.microsoft.com/office/powerpoint/2010/main" val="3738579722"/>
      </p:ext>
    </p:extLst>
  </p:cSld>
  <p:clrMapOvr>
    <a:masterClrMapping/>
  </p:clrMapOvr>
</p:sld>
</file>

<file path=ppt/theme/theme1.xml><?xml version="1.0" encoding="utf-8"?>
<a:theme xmlns:a="http://schemas.openxmlformats.org/drawingml/2006/main" name="MatrixVTI">
  <a:themeElements>
    <a:clrScheme name="Custom 29">
      <a:dk1>
        <a:srgbClr val="000000"/>
      </a:dk1>
      <a:lt1>
        <a:sysClr val="window" lastClr="FFFFFF"/>
      </a:lt1>
      <a:dk2>
        <a:srgbClr val="465959"/>
      </a:dk2>
      <a:lt2>
        <a:srgbClr val="ECF0F0"/>
      </a:lt2>
      <a:accent1>
        <a:srgbClr val="1EBE9B"/>
      </a:accent1>
      <a:accent2>
        <a:srgbClr val="FD7C7C"/>
      </a:accent2>
      <a:accent3>
        <a:srgbClr val="7DA8B5"/>
      </a:accent3>
      <a:accent4>
        <a:srgbClr val="17967B"/>
      </a:accent4>
      <a:accent5>
        <a:srgbClr val="FB7365"/>
      </a:accent5>
      <a:accent6>
        <a:srgbClr val="D39B17"/>
      </a:accent6>
      <a:hlink>
        <a:srgbClr val="EF08F7"/>
      </a:hlink>
      <a:folHlink>
        <a:srgbClr val="8477FE"/>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64</TotalTime>
  <Words>616</Words>
  <Application>Microsoft Office PowerPoint</Application>
  <PresentationFormat>Widescreen</PresentationFormat>
  <Paragraphs>63</Paragraphs>
  <Slides>25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Avenir Next LT Pro</vt:lpstr>
      <vt:lpstr>Bahnschrift</vt:lpstr>
      <vt:lpstr>MatrixVTI</vt:lpstr>
      <vt:lpstr>Lecturer Claims Management System </vt:lpstr>
      <vt:lpstr>PROBLEM AND SOLUTION: </vt:lpstr>
      <vt:lpstr>PowerPoint Presentation</vt:lpstr>
      <vt:lpstr>Slide 3: Scenario alignment </vt:lpstr>
      <vt:lpstr>Tech stack and architecture</vt:lpstr>
      <vt:lpstr>PowerPoint Presentation</vt:lpstr>
      <vt:lpstr>PowerPoint Presentation</vt:lpstr>
      <vt:lpstr>PowerPoint Presentation</vt:lpstr>
      <vt:lpstr>HR first login and user management </vt:lpstr>
      <vt:lpstr>PowerPoint Presentation</vt:lpstr>
      <vt:lpstr>Lecturer claim submission</vt:lpstr>
      <vt:lpstr>PowerPoint Presentation</vt:lpstr>
      <vt:lpstr>PowerPoint Presentation</vt:lpstr>
      <vt:lpstr>File handling and security</vt:lpstr>
      <vt:lpstr>PowerPoint Presentation</vt:lpstr>
      <vt:lpstr>PowerPoint Presentation</vt:lpstr>
      <vt:lpstr>Coordinator dashboard</vt:lpstr>
      <vt:lpstr>PowerPoint Presentation</vt:lpstr>
      <vt:lpstr>Manager Dashboard</vt:lpstr>
      <vt:lpstr>PowerPoint Presentation</vt:lpstr>
      <vt:lpstr>Review history and tracking</vt:lpstr>
      <vt:lpstr>PowerPoint Presentation</vt:lpstr>
      <vt:lpstr>Automation Highlights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Sizwe Majola</dc:creator>
  <cp:lastModifiedBy>Sizwe Majola</cp:lastModifiedBy>
  <cp:revision>1</cp:revision>
  <dcterms:created xsi:type="dcterms:W3CDTF">2025-11-21T19:04:56Z</dcterms:created>
  <dcterms:modified xsi:type="dcterms:W3CDTF">2025-11-21T20:09:04Z</dcterms:modified>
</cp:coreProperties>
</file>